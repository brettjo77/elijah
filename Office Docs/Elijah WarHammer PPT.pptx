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6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2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4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3000f028bfebe19584b184593c92f909.jpg"/>
          <p:cNvPicPr>
            <a:picLocks noChangeAspect="1"/>
          </p:cNvPicPr>
          <p:nvPr/>
        </p:nvPicPr>
        <p:blipFill>
          <a:blip r:embed="rId3"/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6032" y="301752"/>
            <a:ext cx="11679631" cy="0"/>
          </a:xfrm>
          <a:prstGeom prst="line">
            <a:avLst/>
          </a:prstGeom>
          <a:noFill/>
          <a:ln w="17145">
            <a:solidFill>
              <a:srgbClr val="C8A35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256032" y="6556248"/>
            <a:ext cx="11679631" cy="0"/>
          </a:xfrm>
          <a:prstGeom prst="line">
            <a:avLst/>
          </a:prstGeom>
          <a:noFill/>
          <a:ln w="17145">
            <a:solidFill>
              <a:srgbClr val="C8A35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182880" y="301752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256032" y="228600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11862511" y="301752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11935663" y="228600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82880" y="6556248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256032" y="6483096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11862511" y="6556248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11935663" y="6483096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11414455" y="66019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B7AB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" y="8046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2C87D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COPILOT DEMO BRIEFING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8368" y="1325880"/>
            <a:ext cx="4663440" cy="59436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C8A35F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WARHAMMER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621792" y="1865376"/>
            <a:ext cx="5166360" cy="1481328"/>
          </a:xfrm>
          <a:prstGeom prst="rect">
            <a:avLst/>
          </a:prstGeom>
          <a:solidFill>
            <a:srgbClr val="000000">
              <a:alpha val="68000"/>
            </a:srgbClr>
          </a:solidFill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ECE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ECE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Radar</a:t>
            </a:r>
            <a:endParaRPr lang="en-US" sz="5400" dirty="0"/>
          </a:p>
        </p:txBody>
      </p:sp>
      <p:sp>
        <p:nvSpPr>
          <p:cNvPr id="17" name="Shape 14"/>
          <p:cNvSpPr/>
          <p:nvPr/>
        </p:nvSpPr>
        <p:spPr>
          <a:xfrm>
            <a:off x="676656" y="3621024"/>
            <a:ext cx="3822192" cy="0"/>
          </a:xfrm>
          <a:prstGeom prst="line">
            <a:avLst/>
          </a:prstGeom>
          <a:noFill/>
          <a:ln w="27940">
            <a:solidFill>
              <a:srgbClr val="B63A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76656" y="3913632"/>
            <a:ext cx="48463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7A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five-page fan-facing scan of the hobby news cycle — tabletop, fantasy, specialist games, and the wider Warhammer attention machine.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94944" y="5687568"/>
            <a:ext cx="4754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B7A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note: built without live web research; treat exact announcements as a refresh step before sharing externally.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74520"/>
            <a:ext cx="11128248" cy="0"/>
          </a:xfrm>
          <a:prstGeom prst="line">
            <a:avLst/>
          </a:prstGeom>
          <a:noFill/>
          <a:ln w="4445">
            <a:solidFill>
              <a:srgbClr val="C8A35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02920" y="6144768"/>
            <a:ext cx="11128248" cy="0"/>
          </a:xfrm>
          <a:prstGeom prst="line">
            <a:avLst/>
          </a:prstGeom>
          <a:noFill/>
          <a:ln w="4445">
            <a:solidFill>
              <a:srgbClr val="C8A35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56032" y="301752"/>
            <a:ext cx="11679631" cy="0"/>
          </a:xfrm>
          <a:prstGeom prst="line">
            <a:avLst/>
          </a:prstGeom>
          <a:noFill/>
          <a:ln w="10795">
            <a:solidFill>
              <a:srgbClr val="C8A35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56032" y="6556248"/>
            <a:ext cx="11679631" cy="0"/>
          </a:xfrm>
          <a:prstGeom prst="line">
            <a:avLst/>
          </a:prstGeom>
          <a:noFill/>
          <a:ln w="10795">
            <a:solidFill>
              <a:srgbClr val="C8A35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82880" y="301752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228600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1862511" y="301752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935663" y="228600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82880" y="6556248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56032" y="6483096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1862511" y="6556248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1935663" y="6483096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1414455" y="66019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B7AB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576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63A3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01 / WARHAMMER 40,000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868680"/>
            <a:ext cx="66751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ECE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40K remains the headline engine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94360" y="1481328"/>
            <a:ext cx="6858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7A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existing fans, the news rhythm is less one launch and more an always-on cadence.</a:t>
            </a:r>
            <a:endParaRPr lang="en-US" sz="1600" dirty="0"/>
          </a:p>
        </p:txBody>
      </p:sp>
      <p:pic>
        <p:nvPicPr>
          <p:cNvPr id="18" name="Image 0" descr="/agent/turn1/workspace/images/image-7bbea81485a48ef2015083653c8ab5b7.jpg"/>
          <p:cNvPicPr>
            <a:picLocks noChangeAspect="1"/>
          </p:cNvPicPr>
          <p:nvPr/>
        </p:nvPicPr>
        <p:blipFill>
          <a:blip r:embed="rId3"/>
          <a:srcRect l="26232" r="26232"/>
          <a:stretch/>
        </p:blipFill>
        <p:spPr>
          <a:xfrm>
            <a:off x="7772400" y="658368"/>
            <a:ext cx="3749040" cy="52578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552944" y="676656"/>
            <a:ext cx="0" cy="5221224"/>
          </a:xfrm>
          <a:prstGeom prst="line">
            <a:avLst/>
          </a:prstGeom>
          <a:noFill/>
          <a:ln w="16510">
            <a:solidFill>
              <a:srgbClr val="C8A3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58368" y="21031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C8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22376" y="2496312"/>
            <a:ext cx="374904" cy="0"/>
          </a:xfrm>
          <a:prstGeom prst="line">
            <a:avLst/>
          </a:prstGeom>
          <a:noFill/>
          <a:ln w="15240">
            <a:solidFill>
              <a:srgbClr val="B63A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1335024" y="2130552"/>
            <a:ext cx="2926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E2C87D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Codex &amp; balance cadence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1335024" y="2478024"/>
            <a:ext cx="5303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CE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Faction books, detachments and dataslates keep the meta moving between big boxed releases.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8368" y="32004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C8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722376" y="3593592"/>
            <a:ext cx="374904" cy="0"/>
          </a:xfrm>
          <a:prstGeom prst="line">
            <a:avLst/>
          </a:prstGeom>
          <a:noFill/>
          <a:ln w="15240">
            <a:solidFill>
              <a:srgbClr val="B63A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1335024" y="3227832"/>
            <a:ext cx="2926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E2C87D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Narrative arcs as release fuel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335024" y="3575304"/>
            <a:ext cx="5303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CE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 beats give new kits a reason to exist beyond the rules update.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58368" y="42976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C8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722376" y="4690872"/>
            <a:ext cx="374904" cy="0"/>
          </a:xfrm>
          <a:prstGeom prst="line">
            <a:avLst/>
          </a:prstGeom>
          <a:noFill/>
          <a:ln w="15240">
            <a:solidFill>
              <a:srgbClr val="B63A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1335024" y="4325112"/>
            <a:ext cx="2926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E2C87D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Entry formats matter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335024" y="4672584"/>
            <a:ext cx="5303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CE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Combat Patrol, Kill Team and boxed games turn “what’s new?” into “what can I play fast?”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49808" y="5559552"/>
            <a:ext cx="6108192" cy="438912"/>
          </a:xfrm>
          <a:prstGeom prst="rect">
            <a:avLst/>
          </a:prstGeom>
          <a:solidFill>
            <a:srgbClr val="842A25">
              <a:alpha val="88000"/>
            </a:srgbClr>
          </a:solidFill>
          <a:ln w="8890">
            <a:solidFill>
              <a:srgbClr val="C8A35F">
                <a:alpha val="60000"/>
              </a:srgbClr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CE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 shorthand: expect the hot topic to jump quickly from reveal stream to preorder debate to table impact.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8247888" y="523036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2C87D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40K NEWS SIGNAL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74520"/>
            <a:ext cx="11128248" cy="0"/>
          </a:xfrm>
          <a:prstGeom prst="line">
            <a:avLst/>
          </a:prstGeom>
          <a:noFill/>
          <a:ln w="4445">
            <a:solidFill>
              <a:srgbClr val="C8A35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02920" y="6144768"/>
            <a:ext cx="11128248" cy="0"/>
          </a:xfrm>
          <a:prstGeom prst="line">
            <a:avLst/>
          </a:prstGeom>
          <a:noFill/>
          <a:ln w="4445">
            <a:solidFill>
              <a:srgbClr val="C8A35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56032" y="301752"/>
            <a:ext cx="11679631" cy="0"/>
          </a:xfrm>
          <a:prstGeom prst="line">
            <a:avLst/>
          </a:prstGeom>
          <a:noFill/>
          <a:ln w="10795">
            <a:solidFill>
              <a:srgbClr val="C8A35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56032" y="6556248"/>
            <a:ext cx="11679631" cy="0"/>
          </a:xfrm>
          <a:prstGeom prst="line">
            <a:avLst/>
          </a:prstGeom>
          <a:noFill/>
          <a:ln w="10795">
            <a:solidFill>
              <a:srgbClr val="C8A35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82880" y="301752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228600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1862511" y="301752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935663" y="228600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82880" y="6556248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56032" y="6483096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1862511" y="6556248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1935663" y="6483096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1414455" y="66019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B7AB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576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63A3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02 / FANTASY SHELF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868680"/>
            <a:ext cx="66751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ECE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Fantasy news is now a multi-lane story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94360" y="1481328"/>
            <a:ext cx="6858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7A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of Sigmar, The Old World and boxed games each speak to a different kind of fan energy.</a:t>
            </a:r>
            <a:endParaRPr lang="en-US" sz="1600" dirty="0"/>
          </a:p>
        </p:txBody>
      </p:sp>
      <p:pic>
        <p:nvPicPr>
          <p:cNvPr id="18" name="Image 0" descr="/agent/turn1/workspace/images/image-7c72b9a58927b197086967aab4558ca2.jpg"/>
          <p:cNvPicPr>
            <a:picLocks noChangeAspect="1"/>
          </p:cNvPicPr>
          <p:nvPr/>
        </p:nvPicPr>
        <p:blipFill>
          <a:blip r:embed="rId3"/>
          <a:srcRect l="18776" r="18776"/>
          <a:stretch/>
        </p:blipFill>
        <p:spPr>
          <a:xfrm>
            <a:off x="612648" y="2057400"/>
            <a:ext cx="3383280" cy="361188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21792" y="5833872"/>
            <a:ext cx="10945368" cy="0"/>
          </a:xfrm>
          <a:prstGeom prst="line">
            <a:avLst/>
          </a:prstGeom>
          <a:noFill/>
          <a:ln w="13970">
            <a:solidFill>
              <a:srgbClr val="C8A35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4114800" y="2084832"/>
            <a:ext cx="0" cy="3401568"/>
          </a:xfrm>
          <a:prstGeom prst="line">
            <a:avLst/>
          </a:prstGeom>
          <a:noFill/>
          <a:ln w="19050">
            <a:solidFill>
              <a:srgbClr val="C8A3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315968" y="204825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E2C87D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AGE OF SIGMAR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4315968" y="2578608"/>
            <a:ext cx="192024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CE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Edition support, battletomes and spearhead-style play keep the fantasy flagship accessible.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315968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7AB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315968" y="5175504"/>
            <a:ext cx="1417320" cy="0"/>
          </a:xfrm>
          <a:prstGeom prst="line">
            <a:avLst/>
          </a:prstGeom>
          <a:noFill/>
          <a:ln w="10160">
            <a:solidFill>
              <a:srgbClr val="E2C87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6428232" y="2084832"/>
            <a:ext cx="0" cy="3401568"/>
          </a:xfrm>
          <a:prstGeom prst="line">
            <a:avLst/>
          </a:prstGeom>
          <a:noFill/>
          <a:ln w="19050">
            <a:solidFill>
              <a:srgbClr val="B63A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6629400" y="204825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B63A3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THE OLD WORLD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6629400" y="2578608"/>
            <a:ext cx="192024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CE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Rank-and-flank nostalgia brings resin, plastic and lore arguments back to the front rank.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629400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7AB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629400" y="5175504"/>
            <a:ext cx="1417320" cy="0"/>
          </a:xfrm>
          <a:prstGeom prst="line">
            <a:avLst/>
          </a:prstGeom>
          <a:noFill/>
          <a:ln w="10160">
            <a:solidFill>
              <a:srgbClr val="E2C87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8741664" y="2084832"/>
            <a:ext cx="0" cy="3401568"/>
          </a:xfrm>
          <a:prstGeom prst="line">
            <a:avLst/>
          </a:prstGeom>
          <a:noFill/>
          <a:ln w="19050">
            <a:solidFill>
              <a:srgbClr val="C8A3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8942832" y="204825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E2C87D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SPECIALIST BOXES</a:t>
            </a:r>
            <a:endParaRPr lang="en-US" sz="1550" dirty="0"/>
          </a:p>
        </p:txBody>
      </p:sp>
      <p:sp>
        <p:nvSpPr>
          <p:cNvPr id="32" name="Text 29"/>
          <p:cNvSpPr/>
          <p:nvPr/>
        </p:nvSpPr>
        <p:spPr>
          <a:xfrm>
            <a:off x="8942832" y="2578608"/>
            <a:ext cx="192024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CE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Necromunda, Blood Bowl and related games create compact, characterful news moments.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942832" y="4773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7AB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942832" y="5175504"/>
            <a:ext cx="1417320" cy="0"/>
          </a:xfrm>
          <a:prstGeom prst="line">
            <a:avLst/>
          </a:prstGeom>
          <a:noFill/>
          <a:ln w="10160">
            <a:solidFill>
              <a:srgbClr val="E2C87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694944" y="5989320"/>
            <a:ext cx="10561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>
              <a:buNone/>
            </a:pPr>
            <a:r>
              <a:rPr lang="en-US" sz="1500" i="1" dirty="0">
                <a:solidFill>
                  <a:srgbClr val="B7A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practical takeaway: “Warhammer news” is no longer one pipeline — it is a rotating shelf of systems, each with its own reveal cadence.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74520"/>
            <a:ext cx="11128248" cy="0"/>
          </a:xfrm>
          <a:prstGeom prst="line">
            <a:avLst/>
          </a:prstGeom>
          <a:noFill/>
          <a:ln w="4445">
            <a:solidFill>
              <a:srgbClr val="C8A35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02920" y="6144768"/>
            <a:ext cx="11128248" cy="0"/>
          </a:xfrm>
          <a:prstGeom prst="line">
            <a:avLst/>
          </a:prstGeom>
          <a:noFill/>
          <a:ln w="4445">
            <a:solidFill>
              <a:srgbClr val="C8A35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56032" y="301752"/>
            <a:ext cx="11679631" cy="0"/>
          </a:xfrm>
          <a:prstGeom prst="line">
            <a:avLst/>
          </a:prstGeom>
          <a:noFill/>
          <a:ln w="10795">
            <a:solidFill>
              <a:srgbClr val="C8A35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56032" y="6556248"/>
            <a:ext cx="11679631" cy="0"/>
          </a:xfrm>
          <a:prstGeom prst="line">
            <a:avLst/>
          </a:prstGeom>
          <a:noFill/>
          <a:ln w="10795">
            <a:solidFill>
              <a:srgbClr val="C8A35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82880" y="301752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228600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1862511" y="301752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935663" y="228600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82880" y="6556248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56032" y="6483096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1862511" y="6556248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1935663" y="6483096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1414455" y="66019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B7AB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576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63A3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03 / BEYOND THE TABLETOP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868680"/>
            <a:ext cx="66751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ECE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wider ecosystem turns releases into conversation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94360" y="1481328"/>
            <a:ext cx="6858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7A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Fans increasingly track models, lore, shows, games, events and creators as one attention flywheel.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3438144"/>
            <a:ext cx="1682496" cy="768096"/>
          </a:xfrm>
          <a:prstGeom prst="rect">
            <a:avLst/>
          </a:prstGeom>
          <a:solidFill>
            <a:srgbClr val="211D1A"/>
          </a:solidFill>
          <a:ln w="15240">
            <a:solidFill>
              <a:srgbClr val="E2C87D"/>
            </a:solidFill>
          </a:ln>
          <a:effectLst>
            <a:outerShdw blurRad="25400" dist="12700" dir="2700000" algn="bl" rotWithShape="0">
              <a:srgbClr val="000000">
                <a:alpha val="30000"/>
              </a:srgbClr>
            </a:outerShdw>
          </a:effectLst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E0C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HOBBY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ECE0C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28800" y="2423160"/>
            <a:ext cx="1965960" cy="457200"/>
          </a:xfrm>
          <a:prstGeom prst="rect">
            <a:avLst/>
          </a:prstGeom>
          <a:solidFill>
            <a:srgbClr val="111111">
              <a:alpha val="92000"/>
            </a:srgbClr>
          </a:solidFill>
          <a:ln w="12700">
            <a:solidFill>
              <a:srgbClr val="C8A35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E0C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Model reveals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96528" y="2240280"/>
            <a:ext cx="1965960" cy="457200"/>
          </a:xfrm>
          <a:prstGeom prst="rect">
            <a:avLst/>
          </a:prstGeom>
          <a:solidFill>
            <a:srgbClr val="111111">
              <a:alpha val="92000"/>
            </a:srgbClr>
          </a:solidFill>
          <a:ln w="12700">
            <a:solidFill>
              <a:srgbClr val="B63A3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E0C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Rules updates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754880"/>
            <a:ext cx="1965960" cy="457200"/>
          </a:xfrm>
          <a:prstGeom prst="rect">
            <a:avLst/>
          </a:prstGeom>
          <a:solidFill>
            <a:srgbClr val="111111">
              <a:alpha val="92000"/>
            </a:srgbClr>
          </a:solidFill>
          <a:ln w="12700">
            <a:solidFill>
              <a:srgbClr val="B63A3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E0C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Black Library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60920" y="4864608"/>
            <a:ext cx="1965960" cy="457200"/>
          </a:xfrm>
          <a:prstGeom prst="rect">
            <a:avLst/>
          </a:prstGeom>
          <a:solidFill>
            <a:srgbClr val="111111">
              <a:alpha val="92000"/>
            </a:srgbClr>
          </a:solidFill>
          <a:ln w="12700">
            <a:solidFill>
              <a:srgbClr val="C8A35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E0C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Video games &amp; licensing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5413248"/>
            <a:ext cx="1965960" cy="457200"/>
          </a:xfrm>
          <a:prstGeom prst="rect">
            <a:avLst/>
          </a:prstGeom>
          <a:solidFill>
            <a:srgbClr val="111111">
              <a:alpha val="92000"/>
            </a:srgbClr>
          </a:solidFill>
          <a:ln w="12700">
            <a:solidFill>
              <a:srgbClr val="E2C87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E0C8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Events &amp; community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3035808"/>
            <a:ext cx="0" cy="932688"/>
          </a:xfrm>
          <a:prstGeom prst="line">
            <a:avLst/>
          </a:prstGeom>
          <a:noFill/>
          <a:ln w="27940">
            <a:solidFill>
              <a:srgbClr val="E2C8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50392" y="3026664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2C87D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0392" y="3337560"/>
            <a:ext cx="3081528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CE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reveal can start as a miniature, get amplified by a novel or stream, then land as a list-building debate.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458200" y="3246120"/>
            <a:ext cx="0" cy="932688"/>
          </a:xfrm>
          <a:prstGeom prst="line">
            <a:avLst/>
          </a:prstGeom>
          <a:noFill/>
          <a:ln w="27940">
            <a:solidFill>
              <a:srgbClr val="B63A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622792" y="3236976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B63A32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WHAT FANS WATCH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622792" y="3547872"/>
            <a:ext cx="2715768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CE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previews, preorder windows, balance commentary, creator reactions and local-event uptake.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cfbfdf52ebe3c3ab3ea8ed4b578d4e50.jpg"/>
          <p:cNvPicPr>
            <a:picLocks noChangeAspect="1"/>
          </p:cNvPicPr>
          <p:nvPr/>
        </p:nvPicPr>
        <p:blipFill>
          <a:blip r:embed="rId3"/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6032" y="301752"/>
            <a:ext cx="11679631" cy="0"/>
          </a:xfrm>
          <a:prstGeom prst="line">
            <a:avLst/>
          </a:prstGeom>
          <a:noFill/>
          <a:ln w="17145">
            <a:solidFill>
              <a:srgbClr val="C8A35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256032" y="6556248"/>
            <a:ext cx="11679631" cy="0"/>
          </a:xfrm>
          <a:prstGeom prst="line">
            <a:avLst/>
          </a:prstGeom>
          <a:noFill/>
          <a:ln w="17145">
            <a:solidFill>
              <a:srgbClr val="C8A35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182880" y="301752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256032" y="228600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11862511" y="301752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11935663" y="228600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82880" y="6556248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256032" y="6483096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11862511" y="6556248"/>
            <a:ext cx="146304" cy="0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11935663" y="6483096"/>
            <a:ext cx="0" cy="146304"/>
          </a:xfrm>
          <a:prstGeom prst="line">
            <a:avLst/>
          </a:prstGeom>
          <a:noFill/>
          <a:ln w="13970">
            <a:solidFill>
              <a:srgbClr val="E2C87D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11414455" y="66019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B7AB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53328" y="7132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2C87D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04 / TALK TRACK FOR ELIJAH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16752" y="1097280"/>
            <a:ext cx="52120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ECE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say out loud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6053328" y="1828800"/>
            <a:ext cx="4206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7A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ending for the live Copilot demo.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80760" y="249631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63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56832" y="2487168"/>
            <a:ext cx="4023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2C87D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News cadence is the product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56832" y="2798064"/>
            <a:ext cx="4251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CE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Warhammer stays visible by keeping reveals, rules and hobby content in motion.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080760" y="35478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63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656832" y="3538728"/>
            <a:ext cx="4023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2C87D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The hook changes by system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656832" y="3849624"/>
            <a:ext cx="4251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CE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40K, AoS, Old World and specialist games each have different fans and buying moments.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080760" y="45994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63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656832" y="4590288"/>
            <a:ext cx="4023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2C87D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Refresh before publishing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56832" y="4901184"/>
            <a:ext cx="4251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CE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exact “latest” dates, pull Warhammer Community headlines immediately before presenting.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080760" y="5806440"/>
            <a:ext cx="4663440" cy="0"/>
          </a:xfrm>
          <a:prstGeom prst="line">
            <a:avLst/>
          </a:prstGeom>
          <a:noFill/>
          <a:ln w="21590">
            <a:solidFill>
              <a:srgbClr val="B63A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080760" y="59618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7AB91"/>
                </a:solidFill>
                <a:latin typeface="Bahnschrift SemiBold" pitchFamily="34" charset="0"/>
                <a:ea typeface="Bahnschrift SemiBold" pitchFamily="34" charset="-122"/>
                <a:cs typeface="Bahnschrift SemiBold" pitchFamily="34" charset="-120"/>
              </a:rPr>
              <a:t>Next stop: reveal article → preorder page → hobby desk.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1650</TotalTime>
  <Words>472</Words>
  <Application>Microsoft Office PowerPoint</Application>
  <PresentationFormat>Widescreen</PresentationFormat>
  <Paragraphs>70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Bahnschrift SemiBold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Brett Johnson (GBB)</dc:creator>
  <cp:lastModifiedBy>Brett Johnson (GBB)</cp:lastModifiedBy>
  <cp:revision>1</cp:revision>
  <dcterms:created xsi:type="dcterms:W3CDTF">2026-06-03T09:51:28Z</dcterms:created>
  <dcterms:modified xsi:type="dcterms:W3CDTF">2026-06-05T09:44:51Z</dcterms:modified>
</cp:coreProperties>
</file>